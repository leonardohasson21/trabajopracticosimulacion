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4" autoAdjust="0"/>
    <p:restoredTop sz="94610"/>
  </p:normalViewPr>
  <p:slideViewPr>
    <p:cSldViewPr snapToGrid="0" snapToObjects="1">
      <p:cViewPr>
        <p:scale>
          <a:sx n="120" d="100"/>
          <a:sy n="120" d="100"/>
        </p:scale>
        <p:origin x="84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68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sugerida: presentar el caso y ubicar a la audiencia. Explicar que el objetivo del deck es mostrar la solución desarrollada en Python, la lógica de eventos discretos, el vector de estado, RK4 y validación.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esta diapositiva como si la audiencia no conociera simulación: “Tenemos un vacunatorio con personas que llegan en grupos, esperan, son atendidas por un enfermero y el sistema registra todo lo que pasa para poder medirlo”.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conecta directamente con el enunciado: usarla para decir “no solo simulamos, sino que además dejamos trazabilidad: RND, vector, final, objetos y RK”.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corazón del modelo: cada fila del vector surge porque ocurrió un evento. El reloj avanza al evento más cercano, se actualiza el estado y se recalculan próximos eventos y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clave para explicar diferencias entre COVID y Gripe. COVID exige lote mínimo de caja completa; Gripe respeta el primer grupo en cola y abre cajas si necesita completar ese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interrupción no es solo “sumar demora”: obliga a suspender el evento de fin de vacunación y guardar el tiempo que faltaba. Eso muestra manejo correcto del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explicar toda la tabla RK. Enfatizar que RK4 calcula el vencimiento de las dosis de gripe abiertas. La tabla es evidencia del cálculo numérico y los parámetros quedan modificables.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esta arquitectura permite cambiar interfaz sin tocar el motor y testear reglas del sistema sin depender de Tkinter.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la exposición, mostrar esta slide y luego pasar a la demo o a la captura real. Recalcar que no se dejó fija la simulación: el usuario puede cambiar todos los parámetros relevantes.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Remarcar que el vector no es solo un resultado de salida: es la trazabilidad completa de la simulación. Además, la fila final se agrega aunque no pertenezca al rango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Elegir 3 o 4 métricas para explicar oralmente: utilización del enfermero, espera promedio, dosis descartadas y pacientes vacunados. No hace falta leer toda la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profundizar en código de tests, sino explicar qué reglas protegen. Mencionar el resultado: todas las pruebas y 161 escenarios de stress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demo no debe improvisarse: seguir la secuencia. Primero mostrar caso base y luego cambiar 1 o 2 parámetros para que el jurado vea causa-efecto.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oral: “Además de programar una simulación, aprendimos a modelar eventos, mantener un vector de estado auditable, integrar numéricamente una variable del sistema y validar reglas con pruebas”.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1005840"/>
            <a:ext cx="4754880" cy="4754880"/>
          </a:xfrm>
          <a:prstGeom prst="arc">
            <a:avLst/>
          </a:prstGeom>
          <a:solidFill>
            <a:srgbClr val="CCFBF1">
              <a:alpha val="9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914400" y="4754880"/>
            <a:ext cx="3474720" cy="3474720"/>
          </a:xfrm>
          <a:prstGeom prst="arc">
            <a:avLst/>
          </a:prstGeom>
          <a:solidFill>
            <a:srgbClr val="DBEAFE">
              <a:alpha val="88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658368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717804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F766E"/>
                </a:solidFill>
              </a:rPr>
              <a:t>SIMULACIÓN · 2026 · 4K1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658368" y="11430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TP5 - Simulación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 Vacunatorio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</a:rPr>
              <a:t>Eventos discretos, vector de estado y vencimiento por Runge-Kutta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13232" y="3337560"/>
            <a:ext cx="3383280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8E5F5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5478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Materia: </a:t>
            </a:r>
            <a:r>
              <a:rPr lang="en-US" sz="1150" dirty="0" err="1">
                <a:solidFill>
                  <a:srgbClr val="0F172A"/>
                </a:solidFill>
              </a:rPr>
              <a:t>Simulación</a:t>
            </a:r>
            <a:endParaRPr lang="en-US" sz="1150" dirty="0">
              <a:solidFill>
                <a:srgbClr val="0F172A"/>
              </a:solidFill>
            </a:endParaRPr>
          </a:p>
          <a:p>
            <a:pPr marL="0" indent="0">
              <a:buNone/>
            </a:pPr>
            <a:r>
              <a:rPr lang="en-US" sz="1150" dirty="0"/>
              <a:t>Grupo: 12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Caso: atención de pacientes COVID y Gripe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Implementación: Python + Tkinter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81122" y="3337560"/>
            <a:ext cx="3383280" cy="1065276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8E5F5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/>
              <a:t>Napoli, </a:t>
            </a:r>
            <a:r>
              <a:rPr lang="es-AR" sz="1100" dirty="0" err="1"/>
              <a:t>Nehuen</a:t>
            </a:r>
            <a:r>
              <a:rPr lang="es-AR" sz="1100" dirty="0"/>
              <a:t> </a:t>
            </a:r>
            <a:r>
              <a:rPr lang="es-AR" sz="1100" dirty="0" err="1"/>
              <a:t>Alhue</a:t>
            </a:r>
            <a:r>
              <a:rPr lang="es-AR" sz="1100" dirty="0"/>
              <a:t> (400553)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/>
              <a:t>Spadoni de los Ríos, Gino (402405)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/>
              <a:t>Hasson, Leonardo (98512)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/>
              <a:t>Gil, Ignacio (407114)</a:t>
            </a:r>
          </a:p>
        </p:txBody>
      </p:sp>
      <p:sp>
        <p:nvSpPr>
          <p:cNvPr id="15" name="Text 13"/>
          <p:cNvSpPr/>
          <p:nvPr/>
        </p:nvSpPr>
        <p:spPr>
          <a:xfrm>
            <a:off x="6911274" y="31397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Integrantes del Grupo:</a:t>
            </a:r>
          </a:p>
          <a:p>
            <a:pPr marL="0" indent="0">
              <a:buNone/>
            </a:pP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5F5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06424" y="5202936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5221224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73352" y="52212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563EB"/>
                </a:solidFill>
              </a:rPr>
              <a:t>LLEGADAS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1673352" y="5422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</a:rPr>
              <a:t>COVID / Gripe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3035808" y="5431536"/>
            <a:ext cx="50292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03320" y="507492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5F5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9624" y="5202936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9624" y="5221224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16552" y="52212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F766E"/>
                </a:solidFill>
              </a:rPr>
              <a:t>COLAS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4416552" y="5422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</a:rPr>
              <a:t>Grupos en espera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779008" y="5431536"/>
            <a:ext cx="50292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507492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5F5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92824" y="5202936"/>
            <a:ext cx="457200" cy="45720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5221224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59752" y="52212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A34A"/>
                </a:solidFill>
              </a:rPr>
              <a:t>ENFERMERO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7159752" y="5422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</a:rPr>
              <a:t>Lotes de vacunación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522208" y="5431536"/>
            <a:ext cx="50292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89720" y="507492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5F5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36024" y="5202936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36024" y="5221224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02952" y="52212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7C3AED"/>
                </a:solidFill>
              </a:rPr>
              <a:t>ESTADÍSTICAS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9902952" y="5422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75569"/>
                </a:solidFill>
              </a:rPr>
              <a:t>Métricas y vector</a:t>
            </a:r>
            <a:endParaRPr lang="en-US" sz="840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3B95A021-0910-8782-4014-8748FF5B2B42}"/>
              </a:ext>
            </a:extLst>
          </p:cNvPr>
          <p:cNvSpPr/>
          <p:nvPr/>
        </p:nvSpPr>
        <p:spPr>
          <a:xfrm>
            <a:off x="4336641" y="3337560"/>
            <a:ext cx="3383280" cy="1065276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8E5F5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rgbClr val="0F172A"/>
                </a:solidFill>
              </a:rPr>
              <a:t>Cattaneo </a:t>
            </a:r>
            <a:r>
              <a:rPr lang="es-AR" sz="1100" dirty="0" err="1">
                <a:solidFill>
                  <a:srgbClr val="0F172A"/>
                </a:solidFill>
              </a:rPr>
              <a:t>Cragnolini</a:t>
            </a:r>
            <a:r>
              <a:rPr lang="es-AR" sz="1100" dirty="0">
                <a:solidFill>
                  <a:srgbClr val="0F172A"/>
                </a:solidFill>
              </a:rPr>
              <a:t>, Ignacio Ezequiel (400062)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rgbClr val="0F172A"/>
                </a:solidFill>
              </a:rPr>
              <a:t>Ferreyra, Jonathan Gabriel (402029)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rgbClr val="0F172A"/>
                </a:solidFill>
              </a:rPr>
              <a:t>González Chiesa, Pedro (402468)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rgbClr val="0F172A"/>
                </a:solidFill>
              </a:rPr>
              <a:t>Rojas Rodríguez, Franco Matías (400939)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objetivo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a resolver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916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Qué representa el sistema y qué debía lograr el aplicativo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057400"/>
            <a:ext cx="534924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2688" y="230428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404872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</a:rPr>
              <a:t>CONTEXTO DEL SISTEMA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941832" y="2788920"/>
            <a:ext cx="46177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Al vacunatorio llegan grupos de personas.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Cada grupo viene por una única vacuna: COVID o Gripe.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Las llegadas de ambos tipos son independientes.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Cada llegada trae de 1 a 4 personas con igual probabilidad.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5102352" cy="3383280"/>
          </a:xfrm>
          <a:prstGeom prst="roundRect">
            <a:avLst>
              <a:gd name="adj" fmla="val 18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2304288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404872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6A34A"/>
                </a:solidFill>
              </a:rPr>
              <a:t>OBJETIVO DEL DESARROLLO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65392" y="2788920"/>
            <a:ext cx="443484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Construir una simulación por eventos discretos.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Mostrar el vector de estado filtrado por i y j.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Permitir modificar los parámetros del enunciado.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Calcular métricas para analizar desempeño.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• Ver objetos presentes desde una fila seleccionada.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 rot="20812902">
            <a:off x="1161497" y="5839286"/>
            <a:ext cx="145816" cy="15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exige la consigna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Requisitos del enunciado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1501007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Checklist de cumplimiento de la solución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41832" y="2029968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0482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7048" y="20116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Simulación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1527048" y="2231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Hasta 100000 iteraciones o hasta el tiempo X, lo que ocurra primero.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77240" y="2834640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1832" y="2990088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00837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7048" y="2971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Filtro i/j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1527048" y="31912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Mostrar i iteraciones a partir de una iteración j.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77240" y="3794760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1832" y="3950208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96849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27048" y="39319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Fila final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1527048" y="41513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Mostrar también la última fila del instante final de simulación.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777240" y="4754880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" y="4910328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92861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27048" y="48920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RND visible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1527048" y="51114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Exponer el número aleatorio usado en cada variable aleatoria.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172200" y="1874520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36792" y="2029968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20482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22008" y="20116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Objetos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922008" y="2231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Desde una fila seleccionada, ver los objetos presentes en el sistema.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172200" y="2834640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36792" y="2990088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300837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2008" y="2971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Runge-Kutta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6922008" y="31912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Mostrar las tablas calculadas para el vencimiento de gripe.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6172200" y="3794760"/>
            <a:ext cx="5074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36792" y="3950208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396849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22008" y="39319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Parámetros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6922008" y="41513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Todos los parámetros del enunciado son editables por el usuario.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6172200" y="5742432"/>
            <a:ext cx="507492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5897880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2400E"/>
                </a:solidFill>
              </a:rPr>
              <a:t>Criterio de presentación: cada punto se muestra luego asociado a una parte concreta del aplicativo.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del sistema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modelamos el vacunatorio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6916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Sistema de simulación por eventos discretos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2084832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2267712"/>
            <a:ext cx="713232" cy="7132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34086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⏱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14416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Reloj de simulación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14416" y="251460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Decide el próximo evento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188720" y="2295144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07592" y="2366009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2404872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</a:rPr>
              <a:t>E0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49631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172A"/>
                </a:solidFill>
              </a:rPr>
              <a:t>Inicialización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383280" y="2560320"/>
            <a:ext cx="11430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75319" y="2121408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94191" y="2212848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1" y="2231136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LC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15399" y="2322576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172A"/>
                </a:solidFill>
              </a:rPr>
              <a:t>Llegada COVID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 flipH="1">
            <a:off x="7452360" y="2386584"/>
            <a:ext cx="830580" cy="54864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94192" y="365760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13064" y="3749040"/>
            <a:ext cx="384048" cy="38404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3767328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LG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34272" y="385876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172A"/>
                </a:solidFill>
              </a:rPr>
              <a:t>Llegada Gripe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9537192" y="4224528"/>
            <a:ext cx="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69180" y="4681132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8052" y="4772572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8052" y="4790860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FV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09260" y="488230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172A"/>
                </a:solidFill>
              </a:rPr>
              <a:t>Fin vacunación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035040" y="5458968"/>
            <a:ext cx="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490472" y="3675888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609344" y="3767328"/>
            <a:ext cx="384048" cy="38404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9344" y="3785616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II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30552" y="3877056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172A"/>
                </a:solidFill>
              </a:rPr>
              <a:t>Inicio interrupción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 flipV="1">
            <a:off x="3730752" y="3136392"/>
            <a:ext cx="1051560" cy="740664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308860" y="4581144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27732" y="4672584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7732" y="4690872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FI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48940" y="478231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172A"/>
                </a:solidFill>
              </a:rPr>
              <a:t>Fin interrupción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3886200" y="5641848"/>
            <a:ext cx="21031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642860" y="4534032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761732" y="4625472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61732" y="4643760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VG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82940" y="473520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172A"/>
                </a:solidFill>
              </a:rPr>
              <a:t>Vencimiento gripe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549640" y="5641848"/>
            <a:ext cx="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31520" y="5559552"/>
            <a:ext cx="10744200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0120" y="5769864"/>
            <a:ext cx="10149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Estado principal: reloj · colas COVID/Gripe · estado del enfermero · próximos eventos · dosis abiertas · vencimiento gripe · pacientes presentes</a:t>
            </a:r>
            <a:endParaRPr lang="en-US" sz="950" dirty="0"/>
          </a:p>
        </p:txBody>
      </p:sp>
      <p:sp>
        <p:nvSpPr>
          <p:cNvPr id="54" name="Shape 38">
            <a:extLst>
              <a:ext uri="{FF2B5EF4-FFF2-40B4-BE49-F238E27FC236}">
                <a16:creationId xmlns:a16="http://schemas.microsoft.com/office/drawing/2014/main" id="{1B9C6CDE-BB81-B251-F53A-A60CBAFDC41C}"/>
              </a:ext>
            </a:extLst>
          </p:cNvPr>
          <p:cNvSpPr/>
          <p:nvPr/>
        </p:nvSpPr>
        <p:spPr>
          <a:xfrm flipV="1">
            <a:off x="4233672" y="3127248"/>
            <a:ext cx="754380" cy="1453896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6" name="Shape 38">
            <a:extLst>
              <a:ext uri="{FF2B5EF4-FFF2-40B4-BE49-F238E27FC236}">
                <a16:creationId xmlns:a16="http://schemas.microsoft.com/office/drawing/2014/main" id="{25FE0DCC-E23D-5D87-F5E9-35B2C3A8B9B9}"/>
              </a:ext>
            </a:extLst>
          </p:cNvPr>
          <p:cNvSpPr/>
          <p:nvPr/>
        </p:nvSpPr>
        <p:spPr>
          <a:xfrm flipV="1">
            <a:off x="5655564" y="3118103"/>
            <a:ext cx="41148" cy="1544741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8" name="Shape 38">
            <a:extLst>
              <a:ext uri="{FF2B5EF4-FFF2-40B4-BE49-F238E27FC236}">
                <a16:creationId xmlns:a16="http://schemas.microsoft.com/office/drawing/2014/main" id="{23F6162A-4658-C266-6369-878896F34502}"/>
              </a:ext>
            </a:extLst>
          </p:cNvPr>
          <p:cNvSpPr/>
          <p:nvPr/>
        </p:nvSpPr>
        <p:spPr>
          <a:xfrm flipH="1" flipV="1">
            <a:off x="6545580" y="3136392"/>
            <a:ext cx="1418844" cy="1370208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0" name="Shape 38">
            <a:extLst>
              <a:ext uri="{FF2B5EF4-FFF2-40B4-BE49-F238E27FC236}">
                <a16:creationId xmlns:a16="http://schemas.microsoft.com/office/drawing/2014/main" id="{973788FD-594B-1B4E-5446-BC0DDA8690FC}"/>
              </a:ext>
            </a:extLst>
          </p:cNvPr>
          <p:cNvSpPr/>
          <p:nvPr/>
        </p:nvSpPr>
        <p:spPr>
          <a:xfrm flipH="1" flipV="1">
            <a:off x="7360920" y="3127248"/>
            <a:ext cx="1033272" cy="539496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 negocio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Lógica de atención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1469003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Reglas que gobiernan cuándo se abre una caja y cómo vacuna el enfermero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520440" cy="3337560"/>
          </a:xfrm>
          <a:prstGeom prst="roundRect">
            <a:avLst>
              <a:gd name="adj" fmla="val 19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2057400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7568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27632" y="2148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COVID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4128" y="2743200"/>
            <a:ext cx="288036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• Cajas de 5 dosis.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• Se abre caja solo con al menos 5 pacientes presentes.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• Si hay más pacientes, se vacuna la mayor cantidad posible en múltiplos de 5.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1828800"/>
            <a:ext cx="3520440" cy="3337560"/>
          </a:xfrm>
          <a:prstGeom prst="roundRect">
            <a:avLst>
              <a:gd name="adj" fmla="val 191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057400"/>
            <a:ext cx="512064" cy="512064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07568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76672" y="2148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</a:rPr>
              <a:t>Gripe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73168" y="2743200"/>
            <a:ext cx="283464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Cajas de 10 dosis.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Se atiende al primer grupo en cola respetando orden de llegada.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Si no hay dosis suficientes, se abren las necesarias para vacunar completo al grupo.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Las dosis sobrantes pueden vencer.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75320" y="1828800"/>
            <a:ext cx="3154680" cy="333756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03920" y="2057400"/>
            <a:ext cx="512064" cy="51206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07568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25712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Enfermero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22208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Aplica un tipo de vacuna por vez.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Alterna la preferencia entre COVID y Gripe.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Si le toca COVID y no hay suficientes pacientes, intenta con gripe.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5559552"/>
            <a:ext cx="1024128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5769864"/>
            <a:ext cx="9601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8350F"/>
                </a:solidFill>
              </a:rPr>
              <a:t>Idea clave: el motor decide el próximo lote usando disponibilidad de pacientes, dosis, preferencia alternada y estado del enfermero.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Interrupciones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Interrupciones del enfermero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" y="152287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Cómo se agregó la interrupción recurrente al modelo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443484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214884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7864" y="224942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97316"/>
                </a:solidFill>
              </a:rPr>
              <a:t>REGLAS IMPLEMENTADAS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051560" y="2651760"/>
            <a:ext cx="37947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Las interrupciones llegan con distribución exponencial negativa.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Si el enfermero ya está interrumpido, la nueva interrupción se descarta.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Si llega mientras vacuna, la atención queda pausada.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Cuando termina, se retoma la vacunación con el tiempo restante del lote.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532120" y="1874520"/>
            <a:ext cx="5806440" cy="3337560"/>
          </a:xfrm>
          <a:prstGeom prst="roundRect">
            <a:avLst>
              <a:gd name="adj" fmla="val 191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214884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2249424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97316"/>
                </a:solidFill>
              </a:rPr>
              <a:t>LÍNEA DE TIEMPO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080760" y="3291840"/>
            <a:ext cx="126187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0528" y="2871216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8895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08776" y="3465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Vacunando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368503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</a:rPr>
              <a:t>fin vacunación programado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360920" y="3657600"/>
            <a:ext cx="109728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3800" y="3291840"/>
            <a:ext cx="126187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3568" y="2871216"/>
            <a:ext cx="438912" cy="43891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28895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71816" y="3465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Interrupción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35240" y="368503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</a:rPr>
              <a:t>pausa de atención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823960" y="3657600"/>
            <a:ext cx="246888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0" y="3291840"/>
            <a:ext cx="126187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3768" y="2871216"/>
            <a:ext cx="438912" cy="43891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3768" y="28895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72016" y="3465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Reanuda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35440" y="368503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</a:rPr>
              <a:t>tiempo restante del lote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005840" y="5596128"/>
            <a:ext cx="10104120" cy="658368"/>
          </a:xfrm>
          <a:prstGeom prst="roundRect">
            <a:avLst>
              <a:gd name="adj" fmla="val 9722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61872" y="5806440"/>
            <a:ext cx="9326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</a:rPr>
              <a:t>Valor técnico: se modelaron fin_interrupcion, restante_vacunacion y acumulación de tiempo_interrumpido para no perder el estado del lote pausado.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Runge-Kutta y vencimiento de gripe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del vencimiento con RK4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145429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Rol de la integración numérica dentro de la simulación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525780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4128" y="2039112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139696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7C3AED"/>
                </a:solidFill>
              </a:rPr>
              <a:t>ECUACIÓN DEL ENUNCIADO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078992" y="267004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41,4 * R = dR/dt + 0,0575 * R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43000" y="3182112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43814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75569"/>
                </a:solidFill>
              </a:rPr>
              <a:t>Despeje usado en la solución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078992" y="37947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dR/dt = 41,3425 * R + 0 * t + c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78992" y="423367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c = 0 por defecto · R(0) configurable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309360" y="1783080"/>
            <a:ext cx="5074920" cy="4251960"/>
          </a:xfrm>
          <a:prstGeom prst="roundRect">
            <a:avLst>
              <a:gd name="adj" fmla="val 1505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2039112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2139696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7C3AED"/>
                </a:solidFill>
              </a:rPr>
              <a:t>CÓMO SE USA EN EL SISTEMA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583680" y="2651760"/>
            <a:ext cx="43434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El programa resuelve la ecuación con Runge-Kutta de cuarto orden.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El tiempo de vencimiento de la caja de gripe se toma como el máximo valor de R dentro del intervalo configurado.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La tabla RK queda visible para justificar el cálculo.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Los parámetros numéricos son editables desde la interfaz.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29400" y="480060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5020056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</a:rPr>
              <a:t>Parámetros RK: R inicial · t inicial · t final · paso h · coef. R · coef. t · constante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la solución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está organizado el código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18984" y="153619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Separación entre interfaz, modelo, motor, configuración y pruebas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4983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7552" y="2002536"/>
            <a:ext cx="438912" cy="43891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02082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{}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0116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app.py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572768" y="223113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Punto de entrada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4983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002536"/>
            <a:ext cx="438912" cy="43891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02082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{}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59168" y="20116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src/vacunatorio/ui/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059168" y="223113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Interfaz en Tkinter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22960" y="2834640"/>
            <a:ext cx="4983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" y="2962656"/>
            <a:ext cx="438912" cy="43891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298094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{}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29718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simulacion/motor.py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572768" y="319125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Lógica central de eventos discretos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309360" y="2834640"/>
            <a:ext cx="4983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2962656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98094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{}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59168" y="29718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simulacion/runge_kutta.py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059168" y="319125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Cálculo RK4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22960" y="3794760"/>
            <a:ext cx="4983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7552" y="3922776"/>
            <a:ext cx="438912" cy="43891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9410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{}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72768" y="3931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src/vacunatorio/config/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1572768" y="415137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Parámetros, validaciones y constantes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309360" y="3794760"/>
            <a:ext cx="4983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73952" y="3922776"/>
            <a:ext cx="438912" cy="438912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39410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</a:rPr>
              <a:t>{}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59168" y="3931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dominio/modelos.py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059168" y="415137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Entidad Paciente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22960" y="4754880"/>
            <a:ext cx="4983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7552" y="4882896"/>
            <a:ext cx="438912" cy="43891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490118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{}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572768" y="48920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tests/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1572768" y="511149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Pruebas funcionales y stress test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914400" y="5577840"/>
            <a:ext cx="10149840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8720" y="5788152"/>
            <a:ext cx="9555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F172A"/>
                </a:solidFill>
              </a:rPr>
              <a:t>Mensaje clave: la lógica del sistema no está mezclada con la visualización; esto mejora mantenimiento, pruebas y claridad del modelo.</a:t>
            </a:r>
            <a:endParaRPr lang="en-US" sz="9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desarrollada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de escritorio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5617" y="1429049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Parámetros editables, ejecución, vector, estadísticas y 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1755648"/>
            <a:ext cx="475488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2011680"/>
            <a:ext cx="1627632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211226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</a:rPr>
              <a:t>PERMITE MODIFICAR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005840" y="2523744"/>
            <a:ext cx="4041648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tiempo total de simulación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máximo de iteraciones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valores i y j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semilla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medias de llegada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dosis por caja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tiempo por paciente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frecuencia y duración de interrupciones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parámetros de Runge-Kutta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053328" y="2011680"/>
            <a:ext cx="4937760" cy="384048"/>
          </a:xfrm>
          <a:prstGeom prst="roundRect">
            <a:avLst>
              <a:gd name="adj" fmla="val 952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084832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2130552"/>
            <a:ext cx="1252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</a:rPr>
              <a:t>Vector de estado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726680" y="2084832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63256" y="2130552"/>
            <a:ext cx="1252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Estadísticas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9281160" y="2084832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2130552"/>
            <a:ext cx="12527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Runge-Kutta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144768" y="2633472"/>
            <a:ext cx="4645152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2953512"/>
            <a:ext cx="46451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3273552"/>
            <a:ext cx="4645152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3593592"/>
            <a:ext cx="46451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3913632"/>
            <a:ext cx="4645152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4233672"/>
            <a:ext cx="46451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724912"/>
            <a:ext cx="65836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F172A"/>
                </a:solidFill>
              </a:rPr>
              <a:t>Iter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6976872" y="2724912"/>
            <a:ext cx="65836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F172A"/>
                </a:solidFill>
              </a:rPr>
              <a:t>Reloj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7717536" y="2724912"/>
            <a:ext cx="65836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F172A"/>
                </a:solidFill>
              </a:rPr>
              <a:t>Evento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8458200" y="2724912"/>
            <a:ext cx="65836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F172A"/>
                </a:solidFill>
              </a:rPr>
              <a:t>Cola C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9198864" y="2724912"/>
            <a:ext cx="65836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F172A"/>
                </a:solidFill>
              </a:rPr>
              <a:t>Cola G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9939528" y="2724912"/>
            <a:ext cx="65836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F172A"/>
                </a:solidFill>
              </a:rPr>
              <a:t>Enf.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6446520" y="4919472"/>
            <a:ext cx="4160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Botones: Ejecutar simulación · Exportar CSV · Limpiar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20840" y="5358384"/>
            <a:ext cx="3063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830" dirty="0"/>
          </a:p>
          <a:p>
            <a:pPr marL="0" indent="0" algn="ctr">
              <a:buNone/>
            </a:pPr>
            <a:endParaRPr lang="en-US" sz="83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8BFBC235-9D3A-81F6-7F4B-E57F0211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96918"/>
            <a:ext cx="6105578" cy="34590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 de estado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muestra el vector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1416525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Cada fila representa un evento procesado por la simulación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6995160" cy="449884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197510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2075688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F766E"/>
                </a:solidFill>
              </a:rPr>
              <a:t>COLUMNAS PRINCIPALES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60120" y="2542032"/>
            <a:ext cx="50292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660904"/>
            <a:ext cx="4663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i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1463040" y="2542032"/>
            <a:ext cx="68580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2660904"/>
            <a:ext cx="6492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reloj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2148840" y="2542032"/>
            <a:ext cx="114300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67128" y="2660904"/>
            <a:ext cx="11064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evento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3291840" y="2542032"/>
            <a:ext cx="82296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660904"/>
            <a:ext cx="786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RND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4114800" y="2542032"/>
            <a:ext cx="77724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33088" y="2660904"/>
            <a:ext cx="740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colas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4892040" y="2542032"/>
            <a:ext cx="96012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660904"/>
            <a:ext cx="923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enfermero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5852160" y="2542032"/>
            <a:ext cx="91440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266090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venc. gripe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6766560" y="2542032"/>
            <a:ext cx="685800" cy="347472"/>
          </a:xfrm>
          <a:prstGeom prst="rect">
            <a:avLst/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2660904"/>
            <a:ext cx="6492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0F172A"/>
                </a:solidFill>
              </a:rPr>
              <a:t>stats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960120" y="2889504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63040" y="2889504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48840" y="2889504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2889504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2889504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889504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0" y="2889504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2889504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3236976"/>
            <a:ext cx="502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3236976"/>
            <a:ext cx="685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8840" y="3236976"/>
            <a:ext cx="1143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236976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0" y="3236976"/>
            <a:ext cx="7772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3236976"/>
            <a:ext cx="960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3236976"/>
            <a:ext cx="914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3236976"/>
            <a:ext cx="685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3584448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3584448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48840" y="3584448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358444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3584448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3584448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52160" y="3584448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3584448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120" y="3931920"/>
            <a:ext cx="502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63040" y="3931920"/>
            <a:ext cx="685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48840" y="3931920"/>
            <a:ext cx="1143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91840" y="3931920"/>
            <a:ext cx="8229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0" y="3931920"/>
            <a:ext cx="7772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92040" y="3931920"/>
            <a:ext cx="960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3931920"/>
            <a:ext cx="914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0" y="3931920"/>
            <a:ext cx="685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0120" y="4279392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63040" y="4279392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48840" y="4279392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279392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0" y="4279392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92040" y="4279392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52160" y="4279392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0" y="4279392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7552" y="4709160"/>
            <a:ext cx="62179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• reloj y evento actual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• RND y tiempos de próximas llegadas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• colas COVID y gripe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• estado del enfermero y tiempos de vacunación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• interrupciones y vencimiento de gripe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• acumuladores y estadísticas parciales</a:t>
            </a:r>
            <a:endParaRPr lang="en-US" sz="1020" dirty="0"/>
          </a:p>
        </p:txBody>
      </p:sp>
      <p:sp>
        <p:nvSpPr>
          <p:cNvPr id="71" name="Shape 69"/>
          <p:cNvSpPr/>
          <p:nvPr/>
        </p:nvSpPr>
        <p:spPr>
          <a:xfrm>
            <a:off x="7973568" y="1737360"/>
            <a:ext cx="3520440" cy="4498848"/>
          </a:xfrm>
          <a:prstGeom prst="roundRect">
            <a:avLst>
              <a:gd name="adj" fmla="val 181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247888" y="1975104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94192" y="2075688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6A34A"/>
                </a:solidFill>
              </a:rPr>
              <a:t>DETALLE AL SELECCIONAR FILA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8247888" y="2542032"/>
            <a:ext cx="27432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ID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vacuna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estado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hora de llegada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grupo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grupo de llegada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• inicio de vacunación</a:t>
            </a:r>
            <a:endParaRPr lang="en-US" sz="1120" dirty="0"/>
          </a:p>
        </p:txBody>
      </p:sp>
      <p:sp>
        <p:nvSpPr>
          <p:cNvPr id="75" name="Shape 73"/>
          <p:cNvSpPr/>
          <p:nvPr/>
        </p:nvSpPr>
        <p:spPr>
          <a:xfrm>
            <a:off x="8247888" y="4937760"/>
            <a:ext cx="2788920" cy="749808"/>
          </a:xfrm>
          <a:prstGeom prst="roundRect">
            <a:avLst>
              <a:gd name="adj" fmla="val 853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30768" y="5175504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78350F"/>
                </a:solidFill>
              </a:rPr>
              <a:t>Si la fila final no cae dentro del rango j..j+i-1, se agrega como fila adicional.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obtenidas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Estadísticas calculadas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" y="1492857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Indicadores para convertir el comportamiento simulado en análisis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187452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" y="2039112"/>
            <a:ext cx="347472" cy="34747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05740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20208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COVID llegadas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16736" y="2231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personas COVID llegadas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035808" y="187452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45536" y="2039112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205740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02736" y="20208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Gripe llegadas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02736" y="2231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personas gripe llegadas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321808" y="187452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2039112"/>
            <a:ext cx="347472" cy="34747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205740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88736" y="20208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COVID vacunadas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88736" y="2231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personas COVID vacunadas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607808" y="187452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17536" y="2039112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205740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74736" y="20208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Gripe vacunadas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74736" y="2231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personas gripe vacunadas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9893808" y="187452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03536" y="2039112"/>
            <a:ext cx="347472" cy="34747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03536" y="205740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60736" y="20208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Espera COVID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460736" y="2231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espera promedio COVID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749808" y="292608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536" y="3090672"/>
            <a:ext cx="347472" cy="34747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" y="310896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16736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Espera gripe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316736" y="32826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espera promedio gripe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3035808" y="292608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45536" y="3090672"/>
            <a:ext cx="347472" cy="34747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45536" y="310896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02736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Utilización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02736" y="32826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% de utilización del enfermero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5321808" y="292608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31536" y="3090672"/>
            <a:ext cx="347472" cy="34747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31536" y="310896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88736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Vacunados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88736" y="32826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% de pacientes vacunados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7607808" y="292608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717536" y="3090672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17536" y="310896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●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74736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Máxima cola C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74736" y="32826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máxima cola COVID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9893808" y="292608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0003536" y="3090672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03536" y="310896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●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460736" y="30723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Máxima cola 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460736" y="32826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máxima cola gripe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749808" y="397764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59536" y="4142232"/>
            <a:ext cx="347472" cy="347472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9536" y="416052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</a:rPr>
              <a:t>●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316736" y="41239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Cajas abiertas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316736" y="43342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cantidad de cajas abiertas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3035808" y="397764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145536" y="4142232"/>
            <a:ext cx="347472" cy="34747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45536" y="416052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02736" y="41239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Dosis descartadas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602736" y="43342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dosis de gripe descartadas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5321808" y="397764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431536" y="4142232"/>
            <a:ext cx="347472" cy="34747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31536" y="416052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●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888736" y="41239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Interrupciones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888736" y="43342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interrupciones ocurridas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7607808" y="397764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717536" y="4142232"/>
            <a:ext cx="347472" cy="34747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17536" y="416052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●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174736" y="41239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Tiempo interrumpido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8174736" y="43342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tiempo total interrumpido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9893808" y="3977640"/>
            <a:ext cx="20574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10003536" y="4142232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003536" y="4160520"/>
            <a:ext cx="3474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●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460736" y="41239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Vencimiento RK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10460736" y="43342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tiempo de vencimiento gripe por RK</a:t>
            </a:r>
            <a:endParaRPr lang="en-US" sz="7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y pruebas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validamos la solución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99106" y="143103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Pruebas sobre reglas críticas del sistema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755648"/>
            <a:ext cx="106527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2084832"/>
            <a:ext cx="31546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084832"/>
            <a:ext cx="69037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212848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</a:rPr>
              <a:t>Prueba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79392" y="2212848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</a:rPr>
              <a:t>Qué garantiza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1560" y="2468880"/>
            <a:ext cx="3154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468880"/>
            <a:ext cx="6903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2587752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Filtro i/j + fila final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4279392" y="2587752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Garantiza cumplimiento de visualización del vector.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1051560" y="2852928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2852928"/>
            <a:ext cx="6903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2971800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Corte por tiempo e iteraciones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4279392" y="2971800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Evita superar condiciones de finalización.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1051560" y="3236976"/>
            <a:ext cx="3154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3236976"/>
            <a:ext cx="6903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355848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Parámetros de cajas y tiempos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4279392" y="3355848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Confirma configurabilidad del enunciado.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1051560" y="3621024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3621024"/>
            <a:ext cx="6903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3739896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Runge-Kutta editable</a:t>
            </a:r>
            <a:endParaRPr lang="en-US" sz="790" dirty="0"/>
          </a:p>
        </p:txBody>
      </p:sp>
      <p:sp>
        <p:nvSpPr>
          <p:cNvPr id="31" name="Text 29"/>
          <p:cNvSpPr/>
          <p:nvPr/>
        </p:nvSpPr>
        <p:spPr>
          <a:xfrm>
            <a:off x="4279392" y="3739896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Valida cálculo y tabla RK con parámetros variables.</a:t>
            </a:r>
            <a:endParaRPr lang="en-US" sz="790" dirty="0"/>
          </a:p>
        </p:txBody>
      </p:sp>
      <p:sp>
        <p:nvSpPr>
          <p:cNvPr id="32" name="Shape 30"/>
          <p:cNvSpPr/>
          <p:nvPr/>
        </p:nvSpPr>
        <p:spPr>
          <a:xfrm>
            <a:off x="1051560" y="4005072"/>
            <a:ext cx="3154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4005072"/>
            <a:ext cx="6903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4712" y="4123944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Detalle de pacientes presentes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4279392" y="4123944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Permite auditar objetos vivos desde una fila.</a:t>
            </a:r>
            <a:endParaRPr lang="en-US" sz="790" dirty="0"/>
          </a:p>
        </p:txBody>
      </p:sp>
      <p:sp>
        <p:nvSpPr>
          <p:cNvPr id="36" name="Shape 34"/>
          <p:cNvSpPr/>
          <p:nvPr/>
        </p:nvSpPr>
        <p:spPr>
          <a:xfrm>
            <a:off x="1051560" y="4389120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4389120"/>
            <a:ext cx="6903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4712" y="4507992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Interrupciones</a:t>
            </a:r>
            <a:endParaRPr lang="en-US" sz="790" dirty="0"/>
          </a:p>
        </p:txBody>
      </p:sp>
      <p:sp>
        <p:nvSpPr>
          <p:cNvPr id="39" name="Text 37"/>
          <p:cNvSpPr/>
          <p:nvPr/>
        </p:nvSpPr>
        <p:spPr>
          <a:xfrm>
            <a:off x="4279392" y="4507992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Verifica pausa, reanudación y acumulación temporal.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1051560" y="4773168"/>
            <a:ext cx="31546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4773168"/>
            <a:ext cx="6903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4712" y="4892040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Gripe por orden de llegada</a:t>
            </a:r>
            <a:endParaRPr lang="en-US" sz="790" dirty="0"/>
          </a:p>
        </p:txBody>
      </p:sp>
      <p:sp>
        <p:nvSpPr>
          <p:cNvPr id="43" name="Text 41"/>
          <p:cNvSpPr/>
          <p:nvPr/>
        </p:nvSpPr>
        <p:spPr>
          <a:xfrm>
            <a:off x="4279392" y="4892040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Respeta primer grupo en cola y apertura de cajas.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1051560" y="5157216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6240" y="5157216"/>
            <a:ext cx="6903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24712" y="5276088"/>
            <a:ext cx="30083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0F172A"/>
                </a:solidFill>
              </a:rPr>
              <a:t>Porcentajes y utilización</a:t>
            </a:r>
            <a:endParaRPr lang="en-US" sz="790" dirty="0"/>
          </a:p>
        </p:txBody>
      </p:sp>
      <p:sp>
        <p:nvSpPr>
          <p:cNvPr id="47" name="Text 45"/>
          <p:cNvSpPr/>
          <p:nvPr/>
        </p:nvSpPr>
        <p:spPr>
          <a:xfrm>
            <a:off x="4279392" y="5276088"/>
            <a:ext cx="6757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Evita métricas inconsistentes o divisiones inválidas.</a:t>
            </a:r>
            <a:endParaRPr lang="en-US" sz="790" dirty="0"/>
          </a:p>
        </p:txBody>
      </p:sp>
      <p:sp>
        <p:nvSpPr>
          <p:cNvPr id="48" name="Shape 46"/>
          <p:cNvSpPr/>
          <p:nvPr/>
        </p:nvSpPr>
        <p:spPr>
          <a:xfrm>
            <a:off x="914400" y="6053328"/>
            <a:ext cx="10241280" cy="393192"/>
          </a:xfrm>
          <a:prstGeom prst="roundRect">
            <a:avLst>
              <a:gd name="adj" fmla="val 1627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88720" y="6190488"/>
            <a:ext cx="96926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32D"/>
                </a:solidFill>
              </a:rPr>
              <a:t>Resultado real ejecutado: todas las pruebas pasaron correctamente · Stress OK: 161 escenarios intensivos pasaron correctamente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952" y="-172146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en vivo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Recorrido de demostración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5032" y="1460655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Secuencia sugerida para mostrar la app funcionando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792224"/>
            <a:ext cx="5532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78992" y="1883664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01952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192024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Cargar escenario base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3703320" y="1929384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Abrir app y revisar parámetros editables.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68680" y="2578608"/>
            <a:ext cx="5532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8992" y="2670048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2688336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27632" y="270662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Ejecutar simulación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3703320" y="2715768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Generar vector de estado y estadísticas.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68680" y="3364992"/>
            <a:ext cx="5532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78992" y="3456432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474720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27632" y="349300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Mostrar resultados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3703320" y="3502152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Vector, estadísticas y tabla Runge-Kutta.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868680" y="4151376"/>
            <a:ext cx="5532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78992" y="4242816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261104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27632" y="427939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Seleccionar una fila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3703320" y="4288536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Ver pacientes presentes en ese instante.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68680" y="4937760"/>
            <a:ext cx="5532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78992" y="5029200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5047488"/>
            <a:ext cx="384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27632" y="506577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</a:rPr>
              <a:t>Cambiar parámetros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3703320" y="5074920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Forzar un comportamiento observable.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720840" y="1965960"/>
            <a:ext cx="4206240" cy="3063240"/>
          </a:xfrm>
          <a:prstGeom prst="roundRect">
            <a:avLst>
              <a:gd name="adj" fmla="val 209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95160" y="2240280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41464" y="2340864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97316"/>
                </a:solidFill>
              </a:rPr>
              <a:t>PARÁMETROS PARA PROVOCAR CAMBIOS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995160" y="2798064"/>
            <a:ext cx="35204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• menor media de interrupción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• dosis de caja COVID más pequeñas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• llegadas más rápidas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• tiempo de simulación más amplio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• paso RK distinto para comparar tabla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914400" y="5833872"/>
            <a:ext cx="10149840" cy="530352"/>
          </a:xfrm>
          <a:prstGeom prst="roundRect">
            <a:avLst>
              <a:gd name="adj" fmla="val 1206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6025896"/>
            <a:ext cx="9509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F172A"/>
                </a:solidFill>
              </a:rPr>
              <a:t>Objetivo de la demo: confirmar en vivo que el modelo, el vector y las métricas se comportan como se explicó.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9232" y="-253249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383280" cy="3383280"/>
          </a:xfrm>
          <a:prstGeom prst="arc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394960"/>
            <a:ext cx="2926080" cy="2926080"/>
          </a:xfrm>
          <a:prstGeom prst="arc">
            <a:avLst/>
          </a:prstGeom>
          <a:solidFill>
            <a:srgbClr val="CCFBF1">
              <a:alpha val="8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01400" y="329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TP5 - Simulación | Vacunatorio COVID y Gripe | Python + Tkinter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960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99160" y="1462245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Qué se logró y qué aprendizajes deja el TP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512064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15568" y="2084832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185416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6A34A"/>
                </a:solidFill>
              </a:rPr>
              <a:t>RESULTADO DE LA IMPLEMENTACIÓN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115568" y="2651760"/>
            <a:ext cx="429768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Solución completa para el TP del vacunatorio.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Cumplimiento de simulación, vector, detalle de objetos, RK y parametrización.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Arquitectura separada entre interfaz, motor de simulación y validación.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• Pruebas funcionales y stress test respaldan la consistencia.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4937760" cy="3337560"/>
          </a:xfrm>
          <a:prstGeom prst="roundRect">
            <a:avLst>
              <a:gd name="adj" fmla="val 19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524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1968" y="2084832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185416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</a:rPr>
              <a:t>APRENDIZAJES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629400" y="2660904"/>
            <a:ext cx="329184" cy="32918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67919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14032" y="275234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Eventos discretos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629400" y="3163824"/>
            <a:ext cx="329184" cy="329184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18211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4032" y="325526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Vector de estado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629400" y="3666744"/>
            <a:ext cx="329184" cy="32918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68503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14032" y="37581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Integración numérica RK4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629400" y="4169664"/>
            <a:ext cx="329184" cy="32918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187952"/>
            <a:ext cx="329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14032" y="426110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172A"/>
                </a:solidFill>
              </a:rPr>
              <a:t>Validación con pruebas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1828800" y="555955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5797296"/>
            <a:ext cx="7863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El modelo permitió representar reglas reales del sistema y medir su impacto con indicadores trazables.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2232</Words>
  <Application>Microsoft Office PowerPoint</Application>
  <PresentationFormat>Panorámica</PresentationFormat>
  <Paragraphs>385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UTN - Simulación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TP5 - Simulación de un Vacunatorio</dc:title>
  <dc:subject>TP5 - Simulación de un Vacunatorio</dc:subject>
  <dc:creator>ChatGPT</dc:creator>
  <cp:lastModifiedBy>Fabri y Gino Spadoni</cp:lastModifiedBy>
  <cp:revision>3</cp:revision>
  <dcterms:created xsi:type="dcterms:W3CDTF">2026-06-19T22:38:53Z</dcterms:created>
  <dcterms:modified xsi:type="dcterms:W3CDTF">2026-06-19T22:58:43Z</dcterms:modified>
</cp:coreProperties>
</file>